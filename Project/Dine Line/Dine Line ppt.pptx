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56" r:id="rId2"/>
    <p:sldId id="280" r:id="rId3"/>
    <p:sldId id="268" r:id="rId4"/>
    <p:sldId id="281" r:id="rId5"/>
    <p:sldId id="269" r:id="rId6"/>
    <p:sldId id="278" r:id="rId7"/>
    <p:sldId id="258" r:id="rId8"/>
    <p:sldId id="279" r:id="rId9"/>
    <p:sldId id="276" r:id="rId10"/>
    <p:sldId id="274" r:id="rId11"/>
    <p:sldId id="266" r:id="rId12"/>
  </p:sldIdLst>
  <p:sldSz cx="9144000" cy="6858000" type="screen4x3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DA2FE5-4D88-4C54-A65E-6E1C279277F2}" v="18" dt="2024-02-09T16:50:28.236"/>
    <p1510:client id="{98D0E65A-4FC0-4266-822E-91615F5F1742}" v="19" dt="2024-02-10T03:44:16.3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6" d="100"/>
          <a:sy n="96" d="100"/>
        </p:scale>
        <p:origin x="1233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1730"/>
          </a:xfrm>
          <a:prstGeom prst="rect">
            <a:avLst/>
          </a:prstGeom>
        </p:spPr>
        <p:txBody>
          <a:bodyPr vert="horz" lIns="99045" tIns="49522" rIns="99045" bIns="49522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991" y="0"/>
            <a:ext cx="3078427" cy="511730"/>
          </a:xfrm>
          <a:prstGeom prst="rect">
            <a:avLst/>
          </a:prstGeom>
        </p:spPr>
        <p:txBody>
          <a:bodyPr vert="horz" lIns="99045" tIns="49522" rIns="99045" bIns="49522" rtlCol="0"/>
          <a:lstStyle>
            <a:lvl1pPr algn="r">
              <a:defRPr sz="1300"/>
            </a:lvl1pPr>
          </a:lstStyle>
          <a:p>
            <a:fld id="{121D7A57-611D-432A-865F-B725BBE1F4D4}" type="datetime1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8427" cy="511730"/>
          </a:xfrm>
          <a:prstGeom prst="rect">
            <a:avLst/>
          </a:prstGeom>
        </p:spPr>
        <p:txBody>
          <a:bodyPr vert="horz" lIns="99045" tIns="49522" rIns="99045" bIns="49522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991" y="9721106"/>
            <a:ext cx="3078427" cy="511730"/>
          </a:xfrm>
          <a:prstGeom prst="rect">
            <a:avLst/>
          </a:prstGeom>
        </p:spPr>
        <p:txBody>
          <a:bodyPr vert="horz" lIns="99045" tIns="49522" rIns="99045" bIns="49522" rtlCol="0" anchor="b"/>
          <a:lstStyle>
            <a:lvl1pPr algn="r">
              <a:defRPr sz="1300"/>
            </a:lvl1pPr>
          </a:lstStyle>
          <a:p>
            <a:fld id="{1F41DC61-A988-48AE-9E2B-43B1F75E6C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1730"/>
          </a:xfrm>
          <a:prstGeom prst="rect">
            <a:avLst/>
          </a:prstGeom>
        </p:spPr>
        <p:txBody>
          <a:bodyPr vert="horz" lIns="99045" tIns="49522" rIns="99045" bIns="49522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1" y="0"/>
            <a:ext cx="3078427" cy="511730"/>
          </a:xfrm>
          <a:prstGeom prst="rect">
            <a:avLst/>
          </a:prstGeom>
        </p:spPr>
        <p:txBody>
          <a:bodyPr vert="horz" lIns="99045" tIns="49522" rIns="99045" bIns="49522" rtlCol="0"/>
          <a:lstStyle>
            <a:lvl1pPr algn="r">
              <a:defRPr sz="1300"/>
            </a:lvl1pPr>
          </a:lstStyle>
          <a:p>
            <a:fld id="{BD81AC97-F41F-474A-94FF-5EED8C58205E}" type="datetime1">
              <a:rPr lang="en-US" smtClean="0"/>
              <a:t>10/18/2025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9687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5" tIns="49522" rIns="99045" bIns="4952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vert="horz" lIns="99045" tIns="49522" rIns="99045" bIns="4952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1730"/>
          </a:xfrm>
          <a:prstGeom prst="rect">
            <a:avLst/>
          </a:prstGeom>
        </p:spPr>
        <p:txBody>
          <a:bodyPr vert="horz" lIns="99045" tIns="49522" rIns="99045" bIns="49522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1" y="9721106"/>
            <a:ext cx="3078427" cy="511730"/>
          </a:xfrm>
          <a:prstGeom prst="rect">
            <a:avLst/>
          </a:prstGeom>
        </p:spPr>
        <p:txBody>
          <a:bodyPr vert="horz" lIns="99045" tIns="49522" rIns="99045" bIns="49522" rtlCol="0" anchor="b"/>
          <a:lstStyle>
            <a:lvl1pPr algn="r">
              <a:defRPr sz="1300"/>
            </a:lvl1pPr>
          </a:lstStyle>
          <a:p>
            <a:fld id="{FB5B395C-8C1F-4FBA-874B-D6ED3BF13D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20505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5B395C-8C1F-4FBA-874B-D6ED3BF13DA0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0ACDB1D-1D74-416B-A0C2-9A86CA47B768}" type="datetime1">
              <a:rPr lang="en-US" smtClean="0"/>
              <a:t>10/18/2025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7FED0BD9-E025-47EB-B48F-0D1B9C33DA41}" type="datetime3">
              <a:rPr lang="en-US" smtClean="0"/>
              <a:t>18 October 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r>
              <a:rPr lang="en-US"/>
              <a:t>B.E. COMPUTER SCIENCE AND DESIGN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51190CE3-CBD1-455D-B79C-C55DDAE1C2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05227568-87F0-4EF9-8DE4-790FD89C68C6}" type="datetime3">
              <a:rPr lang="en-US" smtClean="0"/>
              <a:t>18 October 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51190CE3-CBD1-455D-B79C-C55DDAE1C2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r>
              <a:rPr lang="en-US"/>
              <a:t>B.E. COMPUTER SCIENCE AND DESIGN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C73C0217-E57D-44CA-AF44-C29745CED56F}" type="datetime3">
              <a:rPr lang="en-US" smtClean="0"/>
              <a:t>18 October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r>
              <a:rPr lang="en-US"/>
              <a:t>B.E. COMPUTER SCIENCE AND DESIGN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51190CE3-CBD1-455D-B79C-C55DDAE1C2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E52AC-FFBE-4B17-A73D-CBDBA9E1D628}" type="datetime3">
              <a:rPr lang="en-US" smtClean="0"/>
              <a:t>18 October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B.E. COMPUTER SCIENCE AND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90CE3-CBD1-455D-B79C-C55DDAE1C2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CE3E8-0750-4A5B-82B1-F1940E0B5A8E}" type="datetime3">
              <a:rPr lang="en-US" smtClean="0"/>
              <a:t>18 October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B.E. COMPUTER SCIENCE AND DESIGN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90CE3-CBD1-455D-B79C-C55DDAE1C2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80BAD63-1C43-4E34-8AB4-B73BD034593B}" type="datetime3">
              <a:rPr lang="en-US" smtClean="0"/>
              <a:t>18 October 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51190CE3-CBD1-455D-B79C-C55DDAE1C2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/>
              <a:t>B.E. COMPUTER SCIENCE AND DESIGN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CA7C6-9876-4A78-9C47-434DCE1C4EE5}" type="datetime3">
              <a:rPr lang="en-US" smtClean="0"/>
              <a:t>18 October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B.E. COMPUTER SCIENCE AND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90CE3-CBD1-455D-B79C-C55DDAE1C2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B591F706-6F1B-4184-BCA9-B1B42B372600}" type="datetime3">
              <a:rPr lang="en-US" smtClean="0"/>
              <a:t>18 October 2025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51190CE3-CBD1-455D-B79C-C55DDAE1C2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r>
              <a:rPr lang="en-US"/>
              <a:t>B.E. COMPUTER SCIENCE AND DESIGN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2381F7C-8383-40C0-BE59-C7967F8EBCD5}" type="datetime3">
              <a:rPr lang="en-US" smtClean="0"/>
              <a:t>18 October 2025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51190CE3-CBD1-455D-B79C-C55DDAE1C2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/>
              <a:t>B.E. COMPUTER SCIENCE AND DESIGN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F5C5-43DE-4630-BE8E-5A2977D39821}" type="datetime3">
              <a:rPr lang="en-US" smtClean="0"/>
              <a:t>18 October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B.E. COMPUTER SCIENCE AND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90CE3-CBD1-455D-B79C-C55DDAE1C2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DD598-4BEB-4ABF-A29E-C9DA87CFD500}" type="datetime3">
              <a:rPr lang="en-US" smtClean="0"/>
              <a:t>18 October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B.E. COMPUTER SCIENCE AND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90CE3-CBD1-455D-B79C-C55DDAE1C2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7CA6A11-2F88-48E7-95C7-C5D137F3C31A}" type="datetime3">
              <a:rPr lang="en-US" smtClean="0"/>
              <a:t>18 October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B.E. COMPUTER SCIENCE AND DESIGN</a:t>
            </a: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51190CE3-CBD1-455D-B79C-C55DDAE1C2F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AutoShape 2" descr="Image result for sns college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0" name="AutoShape 4" descr="Image result for sns college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4581" name="Picture 5" descr="C:\Users\Apple\Desktop\download (2)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0990" y="5943600"/>
            <a:ext cx="1299210" cy="838200"/>
          </a:xfrm>
          <a:prstGeom prst="rect">
            <a:avLst/>
          </a:prstGeom>
          <a:noFill/>
        </p:spPr>
      </p:pic>
      <p:pic>
        <p:nvPicPr>
          <p:cNvPr id="24582" name="Picture 6" descr="C:\Users\Apple\Desktop\SNS-College-Of-Engineering-logo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228600"/>
            <a:ext cx="1600200" cy="160020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3793331" y="392668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0800" y="903233"/>
            <a:ext cx="5410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002060"/>
                </a:solidFill>
              </a:rPr>
              <a:t>Dine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0800" y="2491264"/>
            <a:ext cx="4114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Candidates : </a:t>
            </a:r>
          </a:p>
          <a:p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Koshika T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(713323CD025)</a:t>
            </a:r>
          </a:p>
          <a:p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Kirthik Kumar S (713323CD024)</a:t>
            </a:r>
          </a:p>
          <a:p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Mohammed Afsal B 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(713323CD029)</a:t>
            </a:r>
            <a:endParaRPr lang="en-I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24100" y="5334000"/>
            <a:ext cx="594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 Department Of Computer Science &amp; Design 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SNS College Of Engineering, Coimbatore 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90CE3-CBD1-455D-B79C-C55DDAE1C2F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>
          <a:xfrm rot="5400000">
            <a:off x="7429500" y="1079708"/>
            <a:ext cx="2286000" cy="381000"/>
          </a:xfrm>
        </p:spPr>
        <p:txBody>
          <a:bodyPr/>
          <a:lstStyle/>
          <a:p>
            <a:pPr algn="ctr"/>
            <a:endParaRPr lang="en-US" dirty="0"/>
          </a:p>
          <a:p>
            <a:pPr algn="ctr"/>
            <a:r>
              <a:rPr lang="en-US" dirty="0"/>
              <a:t>18 October 2025</a:t>
            </a:r>
          </a:p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22336B-1ECD-2ACF-0133-2E44148C1905}"/>
              </a:ext>
            </a:extLst>
          </p:cNvPr>
          <p:cNvSpPr txBox="1"/>
          <p:nvPr/>
        </p:nvSpPr>
        <p:spPr>
          <a:xfrm>
            <a:off x="2590800" y="1490568"/>
            <a:ext cx="571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Tradition in Every Sip. Modern in Every Move.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E37C9-74C0-B561-A1D0-AFBD68137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3DD55-7CFC-29F6-6486-35D0568C384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590590"/>
            <a:ext cx="7467600" cy="4873752"/>
          </a:xfrm>
        </p:spPr>
        <p:txBody>
          <a:bodyPr/>
          <a:lstStyle/>
          <a:p>
            <a:pPr marL="0" indent="0" algn="just">
              <a:buNone/>
            </a:pPr>
            <a:r>
              <a:rPr lang="en-GB" dirty="0"/>
              <a:t>Daily Harvest is facing challenges in scaling its meal delivery service to handle increased customer demand while managing supply chain logistics and maintaining product quality and freshness.</a:t>
            </a:r>
          </a:p>
          <a:p>
            <a:pPr marL="0" indent="0" algn="just">
              <a:buNone/>
            </a:pPr>
            <a:endParaRPr lang="en-GB" dirty="0"/>
          </a:p>
          <a:p>
            <a:pPr marL="0" indent="0" algn="just">
              <a:buNone/>
            </a:pPr>
            <a:r>
              <a:rPr lang="en-GB" dirty="0"/>
              <a:t>Description: Daily Harvest needs to scale its meal delivery service to meet growing customer demand, optimizing supply chain logistics and ensuring high product quality and freshness.</a:t>
            </a:r>
          </a:p>
          <a:p>
            <a:pPr marL="0" indent="0" algn="just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Unicorn Problem Statement Number : 38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CD08AA-DD5D-91BD-AB9B-4179E19E90F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1190CE3-CBD1-455D-B79C-C55DDAE1C2FE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B22FC4-0125-6DD1-DC16-4F2E53D88D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28799"/>
            <a:ext cx="714756" cy="7147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E4D38D-FFA7-44A5-97C6-3035E2E95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223" y="130261"/>
            <a:ext cx="1207113" cy="71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127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562015"/>
            <a:ext cx="7467600" cy="487375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drink delivery industry is growing fast as more people want convenient, healthy, ready-to-drink options, putting pressure on companies like Daily Harvest to expand smoothly</a:t>
            </a:r>
            <a:r>
              <a:rPr lang="en-GB" dirty="0"/>
              <a:t>.</a:t>
            </a:r>
          </a:p>
          <a:p>
            <a:pPr algn="just"/>
            <a:r>
              <a:rPr lang="en-US" dirty="0"/>
              <a:t>As demand grows, handling the supply chain, production, inventory, and delivery becomes harder, so companies need smart planning and better systems</a:t>
            </a:r>
            <a:r>
              <a:rPr lang="en-GB" dirty="0"/>
              <a:t>.</a:t>
            </a:r>
          </a:p>
          <a:p>
            <a:pPr algn="just"/>
            <a:r>
              <a:rPr lang="en-US" dirty="0"/>
              <a:t>Delivering fresh drinks needs strong quality checks and temperature control to make sure customers always get fresh and high-quality products</a:t>
            </a:r>
            <a:r>
              <a:rPr lang="en-GB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1190CE3-CBD1-455D-B79C-C55DDAE1C2F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3BAD53-C3B9-230D-AAD8-55F0EBC525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28799"/>
            <a:ext cx="714756" cy="7147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7EC81D-0E8D-1B79-5B43-500205147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223" y="130261"/>
            <a:ext cx="1207113" cy="7132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16C4D-39B3-EE46-0353-8462459D4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A646F-F2A8-344A-9E99-EC549187A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Empathy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415D6-B115-0BBC-D44D-4B487917368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371600"/>
            <a:ext cx="7315200" cy="5023930"/>
          </a:xfrm>
        </p:spPr>
        <p:txBody>
          <a:bodyPr>
            <a:noAutofit/>
          </a:bodyPr>
          <a:lstStyle/>
          <a:p>
            <a:r>
              <a:rPr lang="en-US" dirty="0"/>
              <a:t>Customers don’t have time to make drinks but still want something healthy and easy.</a:t>
            </a:r>
            <a:endParaRPr lang="en-GB" dirty="0"/>
          </a:p>
          <a:p>
            <a:r>
              <a:rPr lang="en-US" dirty="0"/>
              <a:t>Most drink delivery apps don’t offer enough healthy or satisfying options</a:t>
            </a:r>
            <a:r>
              <a:rPr lang="en-GB" dirty="0"/>
              <a:t>.</a:t>
            </a:r>
          </a:p>
          <a:p>
            <a:r>
              <a:rPr lang="en-US" dirty="0"/>
              <a:t>People worry about the freshness, quality, and nutrition of the drinks they get</a:t>
            </a:r>
            <a:r>
              <a:rPr lang="en-GB" dirty="0"/>
              <a:t>.</a:t>
            </a:r>
          </a:p>
          <a:p>
            <a:r>
              <a:rPr lang="en-US" dirty="0"/>
              <a:t>They feel tired of the same unhealthy drinks and struggle to balance work, life, and health</a:t>
            </a:r>
            <a:r>
              <a:rPr lang="en-GB" dirty="0"/>
              <a:t>.</a:t>
            </a:r>
          </a:p>
          <a:p>
            <a:r>
              <a:rPr lang="en-US" dirty="0"/>
              <a:t>Even with doubts, they still hope for a healthy, affordable drink option that matches Indian tastes</a:t>
            </a:r>
            <a:r>
              <a:rPr lang="en-GB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18533-F22E-9880-9FD6-67BE94A59B6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1190CE3-CBD1-455D-B79C-C55DDAE1C2FE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E7BFE1-B3FA-0A6C-79AA-73B8D76E4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32844"/>
            <a:ext cx="713294" cy="7132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A28EA9-ECD5-E479-D6C8-B2AC2B915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14" y="132844"/>
            <a:ext cx="1205222" cy="71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541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Empathy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1190CE3-CBD1-455D-B79C-C55DDAE1C2FE}" type="slidenum">
              <a:rPr lang="en-US" smtClean="0"/>
              <a:pPr/>
              <a:t>5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06757DE-F7DD-4927-98DB-4C40FB29DAB6}"/>
              </a:ext>
            </a:extLst>
          </p:cNvPr>
          <p:cNvGrpSpPr/>
          <p:nvPr/>
        </p:nvGrpSpPr>
        <p:grpSpPr>
          <a:xfrm>
            <a:off x="762000" y="1559432"/>
            <a:ext cx="7255126" cy="4914902"/>
            <a:chOff x="2880047" y="1008195"/>
            <a:chExt cx="5626426" cy="3488773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52DA71C3-95DD-4100-A7AE-FE4A392291AA}"/>
                </a:ext>
              </a:extLst>
            </p:cNvPr>
            <p:cNvSpPr/>
            <p:nvPr/>
          </p:nvSpPr>
          <p:spPr>
            <a:xfrm>
              <a:off x="2880047" y="1008195"/>
              <a:ext cx="2836507" cy="1757909"/>
            </a:xfrm>
            <a:custGeom>
              <a:avLst/>
              <a:gdLst>
                <a:gd name="connsiteX0" fmla="*/ 0 w 1811998"/>
                <a:gd name="connsiteY0" fmla="*/ 0 h 2895600"/>
                <a:gd name="connsiteX1" fmla="*/ 1509992 w 1811998"/>
                <a:gd name="connsiteY1" fmla="*/ 0 h 2895600"/>
                <a:gd name="connsiteX2" fmla="*/ 1811998 w 1811998"/>
                <a:gd name="connsiteY2" fmla="*/ 302006 h 2895600"/>
                <a:gd name="connsiteX3" fmla="*/ 1811998 w 1811998"/>
                <a:gd name="connsiteY3" fmla="*/ 2895600 h 2895600"/>
                <a:gd name="connsiteX4" fmla="*/ 0 w 1811998"/>
                <a:gd name="connsiteY4" fmla="*/ 2895600 h 2895600"/>
                <a:gd name="connsiteX5" fmla="*/ 0 w 1811998"/>
                <a:gd name="connsiteY5" fmla="*/ 0 h 289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1998" h="2895600">
                  <a:moveTo>
                    <a:pt x="0" y="2895600"/>
                  </a:moveTo>
                  <a:lnTo>
                    <a:pt x="0" y="482610"/>
                  </a:lnTo>
                  <a:cubicBezTo>
                    <a:pt x="0" y="216072"/>
                    <a:pt x="84613" y="0"/>
                    <a:pt x="188988" y="0"/>
                  </a:cubicBezTo>
                  <a:lnTo>
                    <a:pt x="1811998" y="0"/>
                  </a:lnTo>
                  <a:lnTo>
                    <a:pt x="1811998" y="2895600"/>
                  </a:lnTo>
                  <a:lnTo>
                    <a:pt x="0" y="2895600"/>
                  </a:lnTo>
                  <a:close/>
                </a:path>
              </a:pathLst>
            </a:cu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spcFirstLastPara="0" vert="horz" wrap="square" lIns="391161" tIns="391160" rIns="391160" bIns="844160" numCol="1" spcCol="1270" anchor="ctr" anchorCtr="0">
              <a:noAutofit/>
            </a:bodyPr>
            <a:lstStyle/>
            <a:p>
              <a:pPr marL="285750" indent="-285750">
                <a:buFont typeface="Arial" pitchFamily="34" charset="0"/>
                <a:buChar char="•"/>
              </a:pPr>
              <a:endParaRPr lang="en-US" sz="1000" dirty="0"/>
            </a:p>
            <a:p>
              <a:pPr marL="285750" indent="-285750">
                <a:buFont typeface="Arial" pitchFamily="34" charset="0"/>
                <a:buChar char="•"/>
              </a:pPr>
              <a:endParaRPr lang="en-US" sz="1000" dirty="0"/>
            </a:p>
            <a:p>
              <a:pPr marL="285750" indent="-285750">
                <a:buFont typeface="Arial" pitchFamily="34" charset="0"/>
                <a:buChar char="•"/>
              </a:pPr>
              <a:endParaRPr lang="en-US" sz="1000" dirty="0"/>
            </a:p>
            <a:p>
              <a:pPr lvl="0" algn="l" defTabSz="2444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000" kern="1200" dirty="0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FB3FBBE-D711-41E3-BDB5-3B78B52C81A3}"/>
                </a:ext>
              </a:extLst>
            </p:cNvPr>
            <p:cNvSpPr/>
            <p:nvPr/>
          </p:nvSpPr>
          <p:spPr>
            <a:xfrm>
              <a:off x="5727171" y="1008195"/>
              <a:ext cx="2766796" cy="1811998"/>
            </a:xfrm>
            <a:custGeom>
              <a:avLst/>
              <a:gdLst>
                <a:gd name="connsiteX0" fmla="*/ 0 w 2895600"/>
                <a:gd name="connsiteY0" fmla="*/ 0 h 1811998"/>
                <a:gd name="connsiteX1" fmla="*/ 2593594 w 2895600"/>
                <a:gd name="connsiteY1" fmla="*/ 0 h 1811998"/>
                <a:gd name="connsiteX2" fmla="*/ 2895600 w 2895600"/>
                <a:gd name="connsiteY2" fmla="*/ 302006 h 1811998"/>
                <a:gd name="connsiteX3" fmla="*/ 2895600 w 2895600"/>
                <a:gd name="connsiteY3" fmla="*/ 1811998 h 1811998"/>
                <a:gd name="connsiteX4" fmla="*/ 0 w 2895600"/>
                <a:gd name="connsiteY4" fmla="*/ 1811998 h 1811998"/>
                <a:gd name="connsiteX5" fmla="*/ 0 w 2895600"/>
                <a:gd name="connsiteY5" fmla="*/ 0 h 1811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5600" h="1811998">
                  <a:moveTo>
                    <a:pt x="0" y="0"/>
                  </a:moveTo>
                  <a:lnTo>
                    <a:pt x="2593594" y="0"/>
                  </a:lnTo>
                  <a:cubicBezTo>
                    <a:pt x="2760387" y="0"/>
                    <a:pt x="2895600" y="135213"/>
                    <a:pt x="2895600" y="302006"/>
                  </a:cubicBezTo>
                  <a:lnTo>
                    <a:pt x="2895600" y="1811998"/>
                  </a:lnTo>
                  <a:lnTo>
                    <a:pt x="0" y="181199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spcFirstLastPara="0" vert="horz" wrap="square" lIns="348488" tIns="348488" rIns="348488" bIns="801488" numCol="1" spcCol="1270" anchor="ctr" anchorCtr="0">
              <a:noAutofit/>
            </a:bodyPr>
            <a:lstStyle/>
            <a:p>
              <a:pPr defTabSz="2178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600" b="1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18315A58-B478-4AE9-93F0-A7D56222D407}"/>
                </a:ext>
              </a:extLst>
            </p:cNvPr>
            <p:cNvSpPr/>
            <p:nvPr/>
          </p:nvSpPr>
          <p:spPr>
            <a:xfrm>
              <a:off x="2880047" y="2684969"/>
              <a:ext cx="2895601" cy="1811999"/>
            </a:xfrm>
            <a:custGeom>
              <a:avLst/>
              <a:gdLst>
                <a:gd name="connsiteX0" fmla="*/ 0 w 2895600"/>
                <a:gd name="connsiteY0" fmla="*/ 0 h 1811998"/>
                <a:gd name="connsiteX1" fmla="*/ 2593594 w 2895600"/>
                <a:gd name="connsiteY1" fmla="*/ 0 h 1811998"/>
                <a:gd name="connsiteX2" fmla="*/ 2895600 w 2895600"/>
                <a:gd name="connsiteY2" fmla="*/ 302006 h 1811998"/>
                <a:gd name="connsiteX3" fmla="*/ 2895600 w 2895600"/>
                <a:gd name="connsiteY3" fmla="*/ 1811998 h 1811998"/>
                <a:gd name="connsiteX4" fmla="*/ 0 w 2895600"/>
                <a:gd name="connsiteY4" fmla="*/ 1811998 h 1811998"/>
                <a:gd name="connsiteX5" fmla="*/ 0 w 2895600"/>
                <a:gd name="connsiteY5" fmla="*/ 0 h 1811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5600" h="1811998">
                  <a:moveTo>
                    <a:pt x="2895600" y="1811997"/>
                  </a:moveTo>
                  <a:lnTo>
                    <a:pt x="302006" y="1811997"/>
                  </a:lnTo>
                  <a:cubicBezTo>
                    <a:pt x="135213" y="1811997"/>
                    <a:pt x="0" y="1676784"/>
                    <a:pt x="0" y="1509991"/>
                  </a:cubicBezTo>
                  <a:lnTo>
                    <a:pt x="0" y="1"/>
                  </a:lnTo>
                  <a:lnTo>
                    <a:pt x="2895600" y="1"/>
                  </a:lnTo>
                  <a:lnTo>
                    <a:pt x="2895600" y="1811997"/>
                  </a:lnTo>
                  <a:close/>
                </a:path>
              </a:pathLst>
            </a:cu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99567" tIns="552569" rIns="99569" bIns="99568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400" kern="1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5FD8AF79-54DF-4B46-AA7F-5CB06B1D1781}"/>
                </a:ext>
              </a:extLst>
            </p:cNvPr>
            <p:cNvSpPr/>
            <p:nvPr/>
          </p:nvSpPr>
          <p:spPr>
            <a:xfrm>
              <a:off x="5739677" y="2766105"/>
              <a:ext cx="2766796" cy="1730863"/>
            </a:xfrm>
            <a:custGeom>
              <a:avLst/>
              <a:gdLst>
                <a:gd name="connsiteX0" fmla="*/ 0 w 1811998"/>
                <a:gd name="connsiteY0" fmla="*/ 0 h 2895600"/>
                <a:gd name="connsiteX1" fmla="*/ 1509992 w 1811998"/>
                <a:gd name="connsiteY1" fmla="*/ 0 h 2895600"/>
                <a:gd name="connsiteX2" fmla="*/ 1811998 w 1811998"/>
                <a:gd name="connsiteY2" fmla="*/ 302006 h 2895600"/>
                <a:gd name="connsiteX3" fmla="*/ 1811998 w 1811998"/>
                <a:gd name="connsiteY3" fmla="*/ 2895600 h 2895600"/>
                <a:gd name="connsiteX4" fmla="*/ 0 w 1811998"/>
                <a:gd name="connsiteY4" fmla="*/ 2895600 h 2895600"/>
                <a:gd name="connsiteX5" fmla="*/ 0 w 1811998"/>
                <a:gd name="connsiteY5" fmla="*/ 0 h 289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1998" h="2895600">
                  <a:moveTo>
                    <a:pt x="1811998" y="1"/>
                  </a:moveTo>
                  <a:lnTo>
                    <a:pt x="1811998" y="2412989"/>
                  </a:lnTo>
                  <a:cubicBezTo>
                    <a:pt x="1811998" y="2679527"/>
                    <a:pt x="1727385" y="2895599"/>
                    <a:pt x="1623010" y="2895599"/>
                  </a:cubicBezTo>
                  <a:lnTo>
                    <a:pt x="0" y="2895599"/>
                  </a:lnTo>
                  <a:lnTo>
                    <a:pt x="0" y="1"/>
                  </a:lnTo>
                  <a:lnTo>
                    <a:pt x="1811998" y="1"/>
                  </a:lnTo>
                  <a:close/>
                </a:path>
              </a:pathLst>
            </a:cu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spcFirstLastPara="0" vert="horz" wrap="square" lIns="64008" tIns="517008" rIns="64008" bIns="64008" numCol="1" spcCol="1270" anchor="ctr" anchorCtr="0">
              <a:noAutofit/>
            </a:bodyPr>
            <a:lstStyle/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2000" b="1" kern="1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779328B5-F3C8-41A2-9E52-2CCEE2924287}"/>
                </a:ext>
              </a:extLst>
            </p:cNvPr>
            <p:cNvSpPr/>
            <p:nvPr/>
          </p:nvSpPr>
          <p:spPr>
            <a:xfrm>
              <a:off x="5000498" y="2504104"/>
              <a:ext cx="1337870" cy="708015"/>
            </a:xfrm>
            <a:custGeom>
              <a:avLst/>
              <a:gdLst>
                <a:gd name="connsiteX0" fmla="*/ 0 w 1737360"/>
                <a:gd name="connsiteY0" fmla="*/ 151003 h 905999"/>
                <a:gd name="connsiteX1" fmla="*/ 151003 w 1737360"/>
                <a:gd name="connsiteY1" fmla="*/ 0 h 905999"/>
                <a:gd name="connsiteX2" fmla="*/ 1586357 w 1737360"/>
                <a:gd name="connsiteY2" fmla="*/ 0 h 905999"/>
                <a:gd name="connsiteX3" fmla="*/ 1737360 w 1737360"/>
                <a:gd name="connsiteY3" fmla="*/ 151003 h 905999"/>
                <a:gd name="connsiteX4" fmla="*/ 1737360 w 1737360"/>
                <a:gd name="connsiteY4" fmla="*/ 754996 h 905999"/>
                <a:gd name="connsiteX5" fmla="*/ 1586357 w 1737360"/>
                <a:gd name="connsiteY5" fmla="*/ 905999 h 905999"/>
                <a:gd name="connsiteX6" fmla="*/ 151003 w 1737360"/>
                <a:gd name="connsiteY6" fmla="*/ 905999 h 905999"/>
                <a:gd name="connsiteX7" fmla="*/ 0 w 1737360"/>
                <a:gd name="connsiteY7" fmla="*/ 754996 h 905999"/>
                <a:gd name="connsiteX8" fmla="*/ 0 w 1737360"/>
                <a:gd name="connsiteY8" fmla="*/ 151003 h 905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37360" h="905999">
                  <a:moveTo>
                    <a:pt x="0" y="151003"/>
                  </a:moveTo>
                  <a:cubicBezTo>
                    <a:pt x="0" y="67606"/>
                    <a:pt x="67606" y="0"/>
                    <a:pt x="151003" y="0"/>
                  </a:cubicBezTo>
                  <a:lnTo>
                    <a:pt x="1586357" y="0"/>
                  </a:lnTo>
                  <a:cubicBezTo>
                    <a:pt x="1669754" y="0"/>
                    <a:pt x="1737360" y="67606"/>
                    <a:pt x="1737360" y="151003"/>
                  </a:cubicBezTo>
                  <a:lnTo>
                    <a:pt x="1737360" y="754996"/>
                  </a:lnTo>
                  <a:cubicBezTo>
                    <a:pt x="1737360" y="838393"/>
                    <a:pt x="1669754" y="905999"/>
                    <a:pt x="1586357" y="905999"/>
                  </a:cubicBezTo>
                  <a:lnTo>
                    <a:pt x="151003" y="905999"/>
                  </a:lnTo>
                  <a:cubicBezTo>
                    <a:pt x="67606" y="905999"/>
                    <a:pt x="0" y="838393"/>
                    <a:pt x="0" y="754996"/>
                  </a:cubicBezTo>
                  <a:lnTo>
                    <a:pt x="0" y="151003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5187" tIns="105187" rIns="105187" bIns="105187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/>
                <a:t>CUSTOMER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2937F776-1FAB-B4C0-D533-AD610585A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06" y="77450"/>
            <a:ext cx="713294" cy="7132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D5DF04-D9AC-C96B-F805-B30565B0F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243" y="132844"/>
            <a:ext cx="1207113" cy="71329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5C45DD7-971E-76B1-CCCA-9A153438E92A}"/>
              </a:ext>
            </a:extLst>
          </p:cNvPr>
          <p:cNvSpPr txBox="1"/>
          <p:nvPr/>
        </p:nvSpPr>
        <p:spPr>
          <a:xfrm>
            <a:off x="999237" y="1752352"/>
            <a:ext cx="3332648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Says</a:t>
            </a:r>
          </a:p>
          <a:p>
            <a:endParaRPr lang="en-GB" sz="1050" dirty="0"/>
          </a:p>
          <a:p>
            <a:r>
              <a:rPr lang="en-GB" sz="1050" dirty="0"/>
              <a:t>I don’t have time to cook but still want to eat healthy.</a:t>
            </a:r>
          </a:p>
          <a:p>
            <a:r>
              <a:rPr lang="en-GB" sz="1050" dirty="0"/>
              <a:t>There’s nothing on food delivery apps that’s healthy and filling.</a:t>
            </a:r>
          </a:p>
          <a:p>
            <a:r>
              <a:rPr lang="en-GB" sz="1050" dirty="0"/>
              <a:t>Meal kits are too foreign — I want something familiar and quick.</a:t>
            </a:r>
          </a:p>
          <a:p>
            <a:r>
              <a:rPr lang="en-GB" sz="1050" dirty="0"/>
              <a:t>Why is healthy food always so expensive or boring?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93FDF8-A1CD-6F06-EEF7-B329E0A360E9}"/>
              </a:ext>
            </a:extLst>
          </p:cNvPr>
          <p:cNvSpPr txBox="1"/>
          <p:nvPr/>
        </p:nvSpPr>
        <p:spPr>
          <a:xfrm>
            <a:off x="4692828" y="1770665"/>
            <a:ext cx="3205453" cy="1854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Thinks</a:t>
            </a:r>
          </a:p>
          <a:p>
            <a:endParaRPr lang="en-GB" sz="1050" dirty="0"/>
          </a:p>
          <a:p>
            <a:r>
              <a:rPr lang="en-GB" sz="1050" dirty="0"/>
              <a:t>I need to take care of my diet, but I can’t spend hours cooking.</a:t>
            </a:r>
          </a:p>
          <a:p>
            <a:r>
              <a:rPr lang="en-GB" sz="1050" dirty="0"/>
              <a:t>Will this service be reliable and actually deliver fresh food?</a:t>
            </a:r>
          </a:p>
          <a:p>
            <a:r>
              <a:rPr lang="en-GB" sz="1050" dirty="0"/>
              <a:t>Is this food nutritious or just another marketing gimmick?</a:t>
            </a:r>
          </a:p>
          <a:p>
            <a:r>
              <a:rPr lang="en-GB" sz="1050" dirty="0"/>
              <a:t>What if I don’t like the taste or it doesn’t match my routine?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89B133-C513-ADF9-9BBA-39CEC4271505}"/>
              </a:ext>
            </a:extLst>
          </p:cNvPr>
          <p:cNvSpPr txBox="1"/>
          <p:nvPr/>
        </p:nvSpPr>
        <p:spPr>
          <a:xfrm>
            <a:off x="1066800" y="4370647"/>
            <a:ext cx="3332648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Does</a:t>
            </a:r>
          </a:p>
          <a:p>
            <a:endParaRPr lang="en-GB" sz="1050" dirty="0"/>
          </a:p>
          <a:p>
            <a:r>
              <a:rPr lang="en-GB" sz="1050" dirty="0"/>
              <a:t>Scrolls through food delivery apps looking for healthy options </a:t>
            </a:r>
            <a:br>
              <a:rPr lang="en-GB" sz="1050" dirty="0"/>
            </a:br>
            <a:r>
              <a:rPr lang="en-GB" sz="1050" dirty="0"/>
              <a:t>Buys groceries but often ends up wasting them</a:t>
            </a:r>
            <a:br>
              <a:rPr lang="en-GB" sz="1050" dirty="0"/>
            </a:br>
            <a:r>
              <a:rPr lang="en-GB" sz="1050" dirty="0"/>
              <a:t>Occasionally tries DIY healthy recipes, but struggles to be consistent</a:t>
            </a:r>
            <a:br>
              <a:rPr lang="en-GB" sz="1050" dirty="0"/>
            </a:br>
            <a:r>
              <a:rPr lang="en-GB" sz="1050" dirty="0"/>
              <a:t>Watches fitness or health food content on Instagram/</a:t>
            </a:r>
            <a:r>
              <a:rPr lang="en-GB" sz="1050" dirty="0" err="1"/>
              <a:t>Youtube</a:t>
            </a:r>
            <a:endParaRPr lang="en-GB" sz="105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9107FA-A1BC-1827-369F-38D21BB83F64}"/>
              </a:ext>
            </a:extLst>
          </p:cNvPr>
          <p:cNvSpPr txBox="1"/>
          <p:nvPr/>
        </p:nvSpPr>
        <p:spPr>
          <a:xfrm>
            <a:off x="4662716" y="4370647"/>
            <a:ext cx="3265679" cy="1531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Feels</a:t>
            </a:r>
          </a:p>
          <a:p>
            <a:endParaRPr lang="en-GB" sz="1050" dirty="0"/>
          </a:p>
          <a:p>
            <a:r>
              <a:rPr lang="en-GB" sz="1050" dirty="0"/>
              <a:t>Frustrated with current food options — too oily, repetitive, or unhealthy</a:t>
            </a:r>
          </a:p>
          <a:p>
            <a:r>
              <a:rPr lang="en-GB" sz="1050" dirty="0"/>
              <a:t>Overwhelmed balancing work, life, and cooking</a:t>
            </a:r>
          </a:p>
          <a:p>
            <a:r>
              <a:rPr lang="en-GB" sz="1050" dirty="0" err="1"/>
              <a:t>Skeptical</a:t>
            </a:r>
            <a:r>
              <a:rPr lang="en-GB" sz="1050" dirty="0"/>
              <a:t> but curious about meal subscriptions</a:t>
            </a:r>
          </a:p>
          <a:p>
            <a:r>
              <a:rPr lang="en-GB" sz="1050" dirty="0"/>
              <a:t>Hopeful for a solution that’s healthy, convenient, and Indian-friendly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Define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575412"/>
            <a:ext cx="7671816" cy="213360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US" sz="9600" dirty="0"/>
              <a:t>Daily Harvest needs a way to grow its drink delivery service while keeping drinks fresh, high-quality, and trustworthy.</a:t>
            </a:r>
          </a:p>
          <a:p>
            <a:pPr>
              <a:lnSpc>
                <a:spcPct val="120000"/>
              </a:lnSpc>
            </a:pPr>
            <a:r>
              <a:rPr lang="en-US" sz="9600" dirty="0"/>
              <a:t>The main issue is managing high demand with a limited supply chain, which leads to delays and uneven drink quality.</a:t>
            </a:r>
          </a:p>
          <a:p>
            <a:pPr>
              <a:lnSpc>
                <a:spcPct val="120000"/>
              </a:lnSpc>
            </a:pPr>
            <a:r>
              <a:rPr lang="en-US" sz="9600" dirty="0"/>
              <a:t>Customers want healthy, affordable, and familiar drinks without the effort of making them or buying ingredients.</a:t>
            </a:r>
          </a:p>
          <a:p>
            <a:pPr>
              <a:lnSpc>
                <a:spcPct val="120000"/>
              </a:lnSpc>
            </a:pPr>
            <a:r>
              <a:rPr lang="en-US" sz="9600" dirty="0"/>
              <a:t>The big challenge is creating a system that keeps drinks reliable, fresh, and convenient while staying cost-friendly and fitting the Indian market.</a:t>
            </a:r>
            <a:endParaRPr lang="en-GB" sz="9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1190CE3-CBD1-455D-B79C-C55DDAE1C2FE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FA230D-B435-E504-3AB0-8A0712CAC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6864"/>
            <a:ext cx="713294" cy="7132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EE1603-0159-968E-C1A8-EF86EEE23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243" y="116864"/>
            <a:ext cx="1207113" cy="7132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98777" y="1524000"/>
            <a:ext cx="7045023" cy="5023930"/>
          </a:xfrm>
        </p:spPr>
        <p:txBody>
          <a:bodyPr>
            <a:normAutofit/>
          </a:bodyPr>
          <a:lstStyle/>
          <a:p>
            <a:r>
              <a:rPr lang="en-US" dirty="0"/>
              <a:t>To build a smart drink delivery platform that keeps drinks fresh and high-quality using real-time temperature and delivery tracking.</a:t>
            </a:r>
          </a:p>
          <a:p>
            <a:r>
              <a:rPr lang="en-US" dirty="0"/>
              <a:t>To use AI to predict customer demand, helping reduce waste, manage production better, and support smooth business growth</a:t>
            </a:r>
            <a:r>
              <a:rPr lang="en-GB" dirty="0"/>
              <a:t>. </a:t>
            </a:r>
          </a:p>
          <a:p>
            <a:r>
              <a:rPr lang="en-US" dirty="0"/>
              <a:t>To design an easy-to-use drink delivery app for Indian customers that offers healthy, affordable, and familiar drink options with reliable service</a:t>
            </a:r>
            <a:r>
              <a:rPr lang="en-GB" dirty="0"/>
              <a:t>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1190CE3-CBD1-455D-B79C-C55DDAE1C2FE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47FBB9-9499-69B9-804C-7F1805BB5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32844"/>
            <a:ext cx="713294" cy="7132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F7F3CC-49A6-8D2D-5711-7F37B3C9E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14" y="132844"/>
            <a:ext cx="1205222" cy="7132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B0182-83C2-DB44-9940-DB0A4E415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41FBC-B0CC-0BEB-240E-C7E447060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Ideate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C290C-4539-F531-F386-095A4E88773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575412"/>
            <a:ext cx="7162800" cy="213360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US" sz="9600" dirty="0"/>
              <a:t>Smart Cooling System: Use IoT sensors to keep drinks at the right temperature during storage and delivery, making sure they stay fresh and tasty.</a:t>
            </a:r>
          </a:p>
          <a:p>
            <a:pPr>
              <a:lnSpc>
                <a:spcPct val="120000"/>
              </a:lnSpc>
            </a:pPr>
            <a:r>
              <a:rPr lang="en-US" sz="9600" dirty="0"/>
              <a:t>AI Demand Prediction: Use AI to study past orders and predict what drinks customers will want next, reducing waste and improving delivery speed.</a:t>
            </a:r>
          </a:p>
          <a:p>
            <a:pPr>
              <a:lnSpc>
                <a:spcPct val="120000"/>
              </a:lnSpc>
            </a:pPr>
            <a:r>
              <a:rPr lang="en-US" sz="9600" dirty="0"/>
              <a:t>Personalized Drink Choices: Create a system that lets users choose healthy, affordable, and Indian-style drinks based on their taste and preferences.</a:t>
            </a:r>
            <a:endParaRPr lang="en-GB" sz="9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FFE911-5CEB-9E0E-7C57-FDEF2D97B2A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1190CE3-CBD1-455D-B79C-C55DDAE1C2FE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50FF70-4268-4CCA-58AF-B67043A56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6864"/>
            <a:ext cx="713294" cy="7132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4FA0CC-5D06-08F2-2204-EE774134B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243" y="116864"/>
            <a:ext cx="1207113" cy="71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976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Prototype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1190CE3-CBD1-455D-B79C-C55DDAE1C2FE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12353F-D8D1-98D2-D50E-166061A8F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32844"/>
            <a:ext cx="713294" cy="7132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C597A0-201D-5A29-D195-03A6AAD33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247" y="132844"/>
            <a:ext cx="1207113" cy="7132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032CF6-C34D-0605-7A3D-A677562260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600200"/>
            <a:ext cx="2572941" cy="4871841"/>
          </a:xfrm>
          <a:prstGeom prst="rect">
            <a:avLst/>
          </a:prstGeom>
        </p:spPr>
      </p:pic>
      <p:sp>
        <p:nvSpPr>
          <p:cNvPr id="10" name="AutoShape 4">
            <a:extLst>
              <a:ext uri="{FF2B5EF4-FFF2-40B4-BE49-F238E27FC236}">
                <a16:creationId xmlns:a16="http://schemas.microsoft.com/office/drawing/2014/main" id="{E166DCE1-C2A5-FD13-F2C3-337213B51846}"/>
              </a:ext>
            </a:extLst>
          </p:cNvPr>
          <p:cNvSpPr>
            <a:spLocks noGrp="1" noChangeAspect="1" noChangeArrowheads="1"/>
          </p:cNvSpPr>
          <p:nvPr>
            <p:ph sz="quarter"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368BEB-69AE-9B56-6A32-CE4D91E94F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4400" y="1580322"/>
            <a:ext cx="2572941" cy="48891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Conclusion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569371"/>
            <a:ext cx="7467600" cy="4873752"/>
          </a:xfrm>
        </p:spPr>
        <p:txBody>
          <a:bodyPr>
            <a:normAutofit/>
          </a:bodyPr>
          <a:lstStyle/>
          <a:p>
            <a:r>
              <a:rPr lang="en-US" dirty="0"/>
              <a:t>Enhanced Efficiency and Freshness: The project ensures timely delivery and consistent food quality through IoT-based monitoring and route optimization.</a:t>
            </a:r>
            <a:endParaRPr lang="en-GB" dirty="0"/>
          </a:p>
          <a:p>
            <a:r>
              <a:rPr lang="en-US" dirty="0"/>
              <a:t>Data-Driven Operations: AI forecasting enables smart planning, reduced wastage, and scalable business growth in the meal delivery sector.</a:t>
            </a:r>
            <a:endParaRPr lang="en-GB" dirty="0"/>
          </a:p>
          <a:p>
            <a:r>
              <a:rPr lang="en-US" dirty="0"/>
              <a:t>Customer-Centered Design: Dine Line provides healthy, affordable, and culturally familiar meals, building trust and satisfaction among users.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1190CE3-CBD1-455D-B79C-C55DDAE1C2FE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34DE44-5037-D72A-D16E-554FBE748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2844"/>
            <a:ext cx="713294" cy="7132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75F83F-B1CD-F738-1A0D-25ACBA2F4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156" y="132844"/>
            <a:ext cx="1207113" cy="7132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19225" y="1953487"/>
            <a:ext cx="5667375" cy="31700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0000" dirty="0">
                <a:solidFill>
                  <a:schemeClr val="accent1"/>
                </a:solidFill>
                <a:effectLst>
                  <a:outerShdw blurRad="75057" dist="38100" dir="5400000" sy="-20000" rotWithShape="0">
                    <a:prstClr val="black">
                      <a:alpha val="25000"/>
                    </a:prstClr>
                  </a:outerShdw>
                </a:effectLst>
              </a:rPr>
              <a:t>THANK YU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11</a:t>
            </a:r>
          </a:p>
        </p:txBody>
      </p:sp>
      <p:pic>
        <p:nvPicPr>
          <p:cNvPr id="1026" name="Picture 2" descr="Blue Thank You Images - Free Download on Freepik">
            <a:extLst>
              <a:ext uri="{FF2B5EF4-FFF2-40B4-BE49-F238E27FC236}">
                <a16:creationId xmlns:a16="http://schemas.microsoft.com/office/drawing/2014/main" id="{E34FC4C0-BD30-AB17-B8F2-CBB38FAB8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0"/>
            <a:ext cx="7543800" cy="7173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6332</TotalTime>
  <Words>780</Words>
  <Application>Microsoft Office PowerPoint</Application>
  <PresentationFormat>On-screen Show (4:3)</PresentationFormat>
  <Paragraphs>84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Century Schoolbook</vt:lpstr>
      <vt:lpstr>Times New Roman</vt:lpstr>
      <vt:lpstr>Wingdings</vt:lpstr>
      <vt:lpstr>Wingdings 2</vt:lpstr>
      <vt:lpstr>Oriel</vt:lpstr>
      <vt:lpstr>PowerPoint Presentation</vt:lpstr>
      <vt:lpstr>Problem Statement </vt:lpstr>
      <vt:lpstr>   Introduction</vt:lpstr>
      <vt:lpstr>   Empathy</vt:lpstr>
      <vt:lpstr>   Empathy</vt:lpstr>
      <vt:lpstr>   Define</vt:lpstr>
      <vt:lpstr>   Objective</vt:lpstr>
      <vt:lpstr>   Ideate</vt:lpstr>
      <vt:lpstr>  Prototype</vt:lpstr>
      <vt:lpstr>  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Apple</dc:creator>
  <cp:lastModifiedBy>Koshika T</cp:lastModifiedBy>
  <cp:revision>44</cp:revision>
  <cp:lastPrinted>2025-10-18T02:37:30Z</cp:lastPrinted>
  <dcterms:created xsi:type="dcterms:W3CDTF">2016-02-14T22:45:30Z</dcterms:created>
  <dcterms:modified xsi:type="dcterms:W3CDTF">2025-10-18T02:37:39Z</dcterms:modified>
</cp:coreProperties>
</file>